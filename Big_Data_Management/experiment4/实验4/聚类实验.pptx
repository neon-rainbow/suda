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6" r:id="rId3"/>
  </p:sldMasterIdLst>
  <p:notesMasterIdLst>
    <p:notesMasterId r:id="rId12"/>
  </p:notesMasterIdLst>
  <p:sldIdLst>
    <p:sldId id="256" r:id="rId4"/>
    <p:sldId id="277" r:id="rId5"/>
    <p:sldId id="276" r:id="rId6"/>
    <p:sldId id="278" r:id="rId7"/>
    <p:sldId id="279" r:id="rId8"/>
    <p:sldId id="280" r:id="rId9"/>
    <p:sldId id="281" r:id="rId10"/>
    <p:sldId id="27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66" autoAdjust="0"/>
    <p:restoredTop sz="94660"/>
  </p:normalViewPr>
  <p:slideViewPr>
    <p:cSldViewPr snapToGrid="0">
      <p:cViewPr varScale="1">
        <p:scale>
          <a:sx n="83" d="100"/>
          <a:sy n="83" d="100"/>
        </p:scale>
        <p:origin x="16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://archive.ics.uci.edu/ml/datasets.html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://archive.ics.uci.edu/ml/datasets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FDF25E-7F5F-4977-A806-59D4F5FD3838}" type="doc">
      <dgm:prSet loTypeId="urn:microsoft.com/office/officeart/2005/8/layout/vProcess5" loCatId="process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zh-CN" altLang="en-US"/>
        </a:p>
      </dgm:t>
    </dgm:pt>
    <dgm:pt modelId="{4F30FFC1-B350-4895-834E-48DBC2DE9EDF}">
      <dgm:prSet phldrT="[文本]"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pPr algn="l"/>
          <a:r>
            <a:rPr lang="zh-CN" altLang="en-US" sz="2000" dirty="0">
              <a:latin typeface="宋体" panose="02010600030101010101" pitchFamily="2" charset="-122"/>
              <a:ea typeface="宋体" panose="02010600030101010101" pitchFamily="2" charset="-122"/>
            </a:rPr>
            <a:t>实验内容：使用</a:t>
          </a:r>
          <a:r>
            <a:rPr lang="en-US" altLang="zh-CN" sz="2000" dirty="0">
              <a:latin typeface="宋体" panose="02010600030101010101" pitchFamily="2" charset="-122"/>
              <a:ea typeface="宋体" panose="02010600030101010101" pitchFamily="2" charset="-122"/>
            </a:rPr>
            <a:t>K-means</a:t>
          </a:r>
          <a:r>
            <a:rPr lang="zh-CN" altLang="en-US" sz="2000" dirty="0">
              <a:latin typeface="宋体" panose="02010600030101010101" pitchFamily="2" charset="-122"/>
              <a:ea typeface="宋体" panose="02010600030101010101" pitchFamily="2" charset="-122"/>
            </a:rPr>
            <a:t>算法对数据进行聚类，并对比结果，进行分析。</a:t>
          </a:r>
          <a:endParaRPr lang="en-US" altLang="zh-CN" sz="20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zh-CN" altLang="en-US" sz="2000" dirty="0">
              <a:latin typeface="宋体" panose="02010600030101010101" pitchFamily="2" charset="-122"/>
              <a:ea typeface="宋体" panose="02010600030101010101" pitchFamily="2" charset="-122"/>
            </a:rPr>
            <a:t>实验目的：</a:t>
          </a:r>
          <a:endParaRPr lang="en-US" altLang="zh-CN" sz="20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2000" dirty="0">
              <a:latin typeface="宋体" panose="02010600030101010101" pitchFamily="2" charset="-122"/>
              <a:ea typeface="宋体" panose="02010600030101010101" pitchFamily="2" charset="-122"/>
            </a:rPr>
            <a:t>1.</a:t>
          </a:r>
          <a:r>
            <a:rPr lang="zh-CN" altLang="en-US" sz="2000" dirty="0">
              <a:latin typeface="宋体" panose="02010600030101010101" pitchFamily="2" charset="-122"/>
              <a:ea typeface="宋体" panose="02010600030101010101" pitchFamily="2" charset="-122"/>
            </a:rPr>
            <a:t>学会处理数据。</a:t>
          </a:r>
          <a:endParaRPr lang="en-US" altLang="zh-CN" sz="20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2000" dirty="0">
              <a:latin typeface="宋体" panose="02010600030101010101" pitchFamily="2" charset="-122"/>
              <a:ea typeface="宋体" panose="02010600030101010101" pitchFamily="2" charset="-122"/>
            </a:rPr>
            <a:t>2.</a:t>
          </a:r>
          <a:r>
            <a:rPr lang="zh-CN" altLang="en-US" sz="2000" dirty="0">
              <a:latin typeface="宋体" panose="02010600030101010101" pitchFamily="2" charset="-122"/>
              <a:ea typeface="宋体" panose="02010600030101010101" pitchFamily="2" charset="-122"/>
            </a:rPr>
            <a:t>掌握基本的聚类方法。</a:t>
          </a:r>
          <a:endParaRPr lang="en-US" altLang="zh-CN" sz="20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2000" dirty="0">
              <a:latin typeface="宋体" panose="02010600030101010101" pitchFamily="2" charset="-122"/>
              <a:ea typeface="宋体" panose="02010600030101010101" pitchFamily="2" charset="-122"/>
            </a:rPr>
            <a:t>3.</a:t>
          </a:r>
          <a:r>
            <a:rPr lang="zh-CN" altLang="en-US" sz="2000" dirty="0">
              <a:latin typeface="宋体" panose="02010600030101010101" pitchFamily="2" charset="-122"/>
              <a:ea typeface="宋体" panose="02010600030101010101" pitchFamily="2" charset="-122"/>
            </a:rPr>
            <a:t>验证</a:t>
          </a:r>
          <a:r>
            <a:rPr lang="en-US" altLang="zh-CN" sz="2000" dirty="0">
              <a:latin typeface="宋体" panose="02010600030101010101" pitchFamily="2" charset="-122"/>
              <a:ea typeface="宋体" panose="02010600030101010101" pitchFamily="2" charset="-122"/>
            </a:rPr>
            <a:t>K-means</a:t>
          </a:r>
          <a:r>
            <a:rPr lang="zh-CN" altLang="en-US" sz="2000" dirty="0">
              <a:latin typeface="宋体" panose="02010600030101010101" pitchFamily="2" charset="-122"/>
              <a:ea typeface="宋体" panose="02010600030101010101" pitchFamily="2" charset="-122"/>
            </a:rPr>
            <a:t>聚类方法的可行性。</a:t>
          </a:r>
          <a:endParaRPr lang="en-US" altLang="zh-CN" sz="20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endParaRPr lang="zh-CN" altLang="en-US" sz="2000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81E86AF-DDE9-4F25-9B8C-00F2F563C822}" type="parTrans" cxnId="{C07F1362-C616-4284-A604-8361454F12A4}">
      <dgm:prSet/>
      <dgm:spPr/>
      <dgm:t>
        <a:bodyPr/>
        <a:lstStyle/>
        <a:p>
          <a:endParaRPr lang="zh-CN" altLang="en-US"/>
        </a:p>
      </dgm:t>
    </dgm:pt>
    <dgm:pt modelId="{E907D0A4-13AB-430C-B47A-5C4A67D28DC3}" type="sibTrans" cxnId="{C07F1362-C616-4284-A604-8361454F12A4}">
      <dgm:prSet/>
      <dgm:spPr>
        <a:solidFill>
          <a:schemeClr val="accent2">
            <a:lumMod val="50000"/>
            <a:alpha val="90000"/>
          </a:schemeClr>
        </a:solidFill>
      </dgm:spPr>
      <dgm:t>
        <a:bodyPr/>
        <a:lstStyle/>
        <a:p>
          <a:endParaRPr lang="zh-CN" altLang="en-US"/>
        </a:p>
      </dgm:t>
    </dgm:pt>
    <dgm:pt modelId="{38CF6C08-1E52-4F78-950E-3FA54DCA1519}" type="pres">
      <dgm:prSet presAssocID="{2DFDF25E-7F5F-4977-A806-59D4F5FD383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7FE32D9-EAFD-468D-9B61-27E2492546D5}" type="pres">
      <dgm:prSet presAssocID="{2DFDF25E-7F5F-4977-A806-59D4F5FD3838}" presName="dummyMaxCanvas" presStyleCnt="0">
        <dgm:presLayoutVars/>
      </dgm:prSet>
      <dgm:spPr/>
    </dgm:pt>
    <dgm:pt modelId="{C865C6DE-9C95-4631-9F7C-4389A1A7EDEA}" type="pres">
      <dgm:prSet presAssocID="{2DFDF25E-7F5F-4977-A806-59D4F5FD3838}" presName="OneNode_1" presStyleLbl="node1" presStyleIdx="0" presStyleCnt="1" custScaleY="185874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F8554BE5-CC0C-4147-9F32-3A080296C114}" type="presOf" srcId="{2DFDF25E-7F5F-4977-A806-59D4F5FD3838}" destId="{38CF6C08-1E52-4F78-950E-3FA54DCA1519}" srcOrd="0" destOrd="0" presId="urn:microsoft.com/office/officeart/2005/8/layout/vProcess5"/>
    <dgm:cxn modelId="{C07F1362-C616-4284-A604-8361454F12A4}" srcId="{2DFDF25E-7F5F-4977-A806-59D4F5FD3838}" destId="{4F30FFC1-B350-4895-834E-48DBC2DE9EDF}" srcOrd="0" destOrd="0" parTransId="{081E86AF-DDE9-4F25-9B8C-00F2F563C822}" sibTransId="{E907D0A4-13AB-430C-B47A-5C4A67D28DC3}"/>
    <dgm:cxn modelId="{81A7FC9D-ABDC-4E74-AA97-0AE2FBFCE031}" type="presOf" srcId="{4F30FFC1-B350-4895-834E-48DBC2DE9EDF}" destId="{C865C6DE-9C95-4631-9F7C-4389A1A7EDEA}" srcOrd="0" destOrd="0" presId="urn:microsoft.com/office/officeart/2005/8/layout/vProcess5"/>
    <dgm:cxn modelId="{44167FF5-8CC8-427E-BBC9-0E9D87FA0359}" type="presParOf" srcId="{38CF6C08-1E52-4F78-950E-3FA54DCA1519}" destId="{57FE32D9-EAFD-468D-9B61-27E2492546D5}" srcOrd="0" destOrd="0" presId="urn:microsoft.com/office/officeart/2005/8/layout/vProcess5"/>
    <dgm:cxn modelId="{1B4C96C3-DAF0-4A12-90FD-3DF727C3B887}" type="presParOf" srcId="{38CF6C08-1E52-4F78-950E-3FA54DCA1519}" destId="{C865C6DE-9C95-4631-9F7C-4389A1A7EDEA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FDF25E-7F5F-4977-A806-59D4F5FD3838}" type="doc">
      <dgm:prSet loTypeId="urn:microsoft.com/office/officeart/2005/8/layout/vProcess5" loCatId="process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zh-CN" altLang="en-US"/>
        </a:p>
      </dgm:t>
    </dgm:pt>
    <dgm:pt modelId="{4F30FFC1-B350-4895-834E-48DBC2DE9EDF}">
      <dgm:prSet phldrT="[文本]"/>
      <dgm:spPr>
        <a:solidFill>
          <a:srgbClr val="FFC000"/>
        </a:solidFill>
      </dgm:spPr>
      <dgm:t>
        <a:bodyPr/>
        <a:lstStyle/>
        <a:p>
          <a:r>
            <a:rPr lang="zh-CN" altLang="en-US" dirty="0"/>
            <a:t>处理数据</a:t>
          </a:r>
        </a:p>
      </dgm:t>
    </dgm:pt>
    <dgm:pt modelId="{081E86AF-DDE9-4F25-9B8C-00F2F563C822}" type="parTrans" cxnId="{C07F1362-C616-4284-A604-8361454F12A4}">
      <dgm:prSet/>
      <dgm:spPr/>
      <dgm:t>
        <a:bodyPr/>
        <a:lstStyle/>
        <a:p>
          <a:endParaRPr lang="zh-CN" altLang="en-US"/>
        </a:p>
      </dgm:t>
    </dgm:pt>
    <dgm:pt modelId="{E907D0A4-13AB-430C-B47A-5C4A67D28DC3}" type="sibTrans" cxnId="{C07F1362-C616-4284-A604-8361454F12A4}">
      <dgm:prSet/>
      <dgm:spPr>
        <a:solidFill>
          <a:schemeClr val="accent2">
            <a:lumMod val="50000"/>
            <a:alpha val="90000"/>
          </a:schemeClr>
        </a:solidFill>
      </dgm:spPr>
      <dgm:t>
        <a:bodyPr/>
        <a:lstStyle/>
        <a:p>
          <a:endParaRPr lang="zh-CN" altLang="en-US"/>
        </a:p>
      </dgm:t>
    </dgm:pt>
    <dgm:pt modelId="{02282373-A3EF-4BC2-B345-3522067736A0}">
      <dgm:prSet phldrT="[文本]"/>
      <dgm:spPr>
        <a:solidFill>
          <a:srgbClr val="FFC000"/>
        </a:solidFill>
      </dgm:spPr>
      <dgm:t>
        <a:bodyPr/>
        <a:lstStyle/>
        <a:p>
          <a:r>
            <a:rPr lang="zh-CN" altLang="en-US" dirty="0"/>
            <a:t>使用</a:t>
          </a:r>
          <a:r>
            <a:rPr lang="en-US" altLang="zh-CN" dirty="0" err="1"/>
            <a:t>Weka</a:t>
          </a:r>
          <a:r>
            <a:rPr lang="zh-CN" altLang="en-US" dirty="0"/>
            <a:t>对数据进行聚类</a:t>
          </a:r>
        </a:p>
      </dgm:t>
    </dgm:pt>
    <dgm:pt modelId="{9B631742-C74B-47C8-882D-C3969DC880E8}" type="parTrans" cxnId="{52379E9E-2024-4BD2-A05B-92C157876A3E}">
      <dgm:prSet/>
      <dgm:spPr/>
      <dgm:t>
        <a:bodyPr/>
        <a:lstStyle/>
        <a:p>
          <a:endParaRPr lang="zh-CN" altLang="en-US"/>
        </a:p>
      </dgm:t>
    </dgm:pt>
    <dgm:pt modelId="{46C54BCA-4B34-41B9-BFAF-77ADF42B24A3}" type="sibTrans" cxnId="{52379E9E-2024-4BD2-A05B-92C157876A3E}">
      <dgm:prSet/>
      <dgm:spPr>
        <a:solidFill>
          <a:schemeClr val="accent2">
            <a:lumMod val="50000"/>
            <a:alpha val="90000"/>
          </a:schemeClr>
        </a:solidFill>
      </dgm:spPr>
      <dgm:t>
        <a:bodyPr/>
        <a:lstStyle/>
        <a:p>
          <a:endParaRPr lang="zh-CN" altLang="en-US"/>
        </a:p>
      </dgm:t>
    </dgm:pt>
    <dgm:pt modelId="{B63453D9-52C7-42BA-A602-A1CE1B371EA9}">
      <dgm:prSet phldrT="[文本]"/>
      <dgm:spPr>
        <a:solidFill>
          <a:srgbClr val="FFC000"/>
        </a:solidFill>
      </dgm:spPr>
      <dgm:t>
        <a:bodyPr/>
        <a:lstStyle/>
        <a:p>
          <a:r>
            <a:rPr lang="zh-CN" altLang="en-US" dirty="0"/>
            <a:t>分析实验结果</a:t>
          </a:r>
        </a:p>
      </dgm:t>
    </dgm:pt>
    <dgm:pt modelId="{E4136613-C013-4338-B98B-C64F442A0CEC}" type="parTrans" cxnId="{05B1F26E-8D87-4DEF-88AB-B1DD3445AFAE}">
      <dgm:prSet/>
      <dgm:spPr/>
      <dgm:t>
        <a:bodyPr/>
        <a:lstStyle/>
        <a:p>
          <a:endParaRPr lang="zh-CN" altLang="en-US"/>
        </a:p>
      </dgm:t>
    </dgm:pt>
    <dgm:pt modelId="{F2A6B0AF-9865-43DA-A56C-91E8617EF4C4}" type="sibTrans" cxnId="{05B1F26E-8D87-4DEF-88AB-B1DD3445AFAE}">
      <dgm:prSet/>
      <dgm:spPr/>
      <dgm:t>
        <a:bodyPr/>
        <a:lstStyle/>
        <a:p>
          <a:endParaRPr lang="zh-CN" altLang="en-US"/>
        </a:p>
      </dgm:t>
    </dgm:pt>
    <dgm:pt modelId="{38CF6C08-1E52-4F78-950E-3FA54DCA1519}" type="pres">
      <dgm:prSet presAssocID="{2DFDF25E-7F5F-4977-A806-59D4F5FD383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7FE32D9-EAFD-468D-9B61-27E2492546D5}" type="pres">
      <dgm:prSet presAssocID="{2DFDF25E-7F5F-4977-A806-59D4F5FD3838}" presName="dummyMaxCanvas" presStyleCnt="0">
        <dgm:presLayoutVars/>
      </dgm:prSet>
      <dgm:spPr/>
    </dgm:pt>
    <dgm:pt modelId="{68AE9609-556D-4FAA-B826-A9421BEDAB65}" type="pres">
      <dgm:prSet presAssocID="{2DFDF25E-7F5F-4977-A806-59D4F5FD3838}" presName="ThreeNodes_1" presStyleLbl="node1" presStyleIdx="0" presStyleCnt="3" custLinFactNeighborX="-2143" custLinFactNeighborY="-3826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771A90A-704D-4A28-A4A0-C253FCE3F212}" type="pres">
      <dgm:prSet presAssocID="{2DFDF25E-7F5F-4977-A806-59D4F5FD3838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534D115-3F01-4649-BE2C-E003B00D7044}" type="pres">
      <dgm:prSet presAssocID="{2DFDF25E-7F5F-4977-A806-59D4F5FD3838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5F5A924-3117-4FB0-A3F3-A6CB9BFA283A}" type="pres">
      <dgm:prSet presAssocID="{2DFDF25E-7F5F-4977-A806-59D4F5FD3838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1F76E6D-DD14-4B81-BB75-FEF6828A5DCD}" type="pres">
      <dgm:prSet presAssocID="{2DFDF25E-7F5F-4977-A806-59D4F5FD3838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B91CD58-37F3-4441-8749-4D0CF953BA26}" type="pres">
      <dgm:prSet presAssocID="{2DFDF25E-7F5F-4977-A806-59D4F5FD3838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5C5FE4C-5603-4BB7-8E60-1E101BF2B5F0}" type="pres">
      <dgm:prSet presAssocID="{2DFDF25E-7F5F-4977-A806-59D4F5FD3838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4858FDC-02C1-491B-908B-0ED48226C569}" type="pres">
      <dgm:prSet presAssocID="{2DFDF25E-7F5F-4977-A806-59D4F5FD3838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9384720-0769-4CCA-8C8C-041718084D0B}" type="presOf" srcId="{02282373-A3EF-4BC2-B345-3522067736A0}" destId="{9771A90A-704D-4A28-A4A0-C253FCE3F212}" srcOrd="0" destOrd="0" presId="urn:microsoft.com/office/officeart/2005/8/layout/vProcess5"/>
    <dgm:cxn modelId="{52379E9E-2024-4BD2-A05B-92C157876A3E}" srcId="{2DFDF25E-7F5F-4977-A806-59D4F5FD3838}" destId="{02282373-A3EF-4BC2-B345-3522067736A0}" srcOrd="1" destOrd="0" parTransId="{9B631742-C74B-47C8-882D-C3969DC880E8}" sibTransId="{46C54BCA-4B34-41B9-BFAF-77ADF42B24A3}"/>
    <dgm:cxn modelId="{9F6B9A80-BF68-47A0-9A4D-28BA382E64D6}" type="presOf" srcId="{2DFDF25E-7F5F-4977-A806-59D4F5FD3838}" destId="{38CF6C08-1E52-4F78-950E-3FA54DCA1519}" srcOrd="0" destOrd="0" presId="urn:microsoft.com/office/officeart/2005/8/layout/vProcess5"/>
    <dgm:cxn modelId="{0C73AACB-6411-405D-9BE5-89F8BBD294ED}" type="presOf" srcId="{4F30FFC1-B350-4895-834E-48DBC2DE9EDF}" destId="{68AE9609-556D-4FAA-B826-A9421BEDAB65}" srcOrd="0" destOrd="0" presId="urn:microsoft.com/office/officeart/2005/8/layout/vProcess5"/>
    <dgm:cxn modelId="{A4844374-75B3-49F0-80B5-4036F2942F82}" type="presOf" srcId="{46C54BCA-4B34-41B9-BFAF-77ADF42B24A3}" destId="{B1F76E6D-DD14-4B81-BB75-FEF6828A5DCD}" srcOrd="0" destOrd="0" presId="urn:microsoft.com/office/officeart/2005/8/layout/vProcess5"/>
    <dgm:cxn modelId="{C8AC2308-228B-4AF0-A536-93D9A67BE769}" type="presOf" srcId="{B63453D9-52C7-42BA-A602-A1CE1B371EA9}" destId="{E534D115-3F01-4649-BE2C-E003B00D7044}" srcOrd="0" destOrd="0" presId="urn:microsoft.com/office/officeart/2005/8/layout/vProcess5"/>
    <dgm:cxn modelId="{C07F1362-C616-4284-A604-8361454F12A4}" srcId="{2DFDF25E-7F5F-4977-A806-59D4F5FD3838}" destId="{4F30FFC1-B350-4895-834E-48DBC2DE9EDF}" srcOrd="0" destOrd="0" parTransId="{081E86AF-DDE9-4F25-9B8C-00F2F563C822}" sibTransId="{E907D0A4-13AB-430C-B47A-5C4A67D28DC3}"/>
    <dgm:cxn modelId="{82123C50-C77C-412A-9AE1-7D69AC79B930}" type="presOf" srcId="{B63453D9-52C7-42BA-A602-A1CE1B371EA9}" destId="{D4858FDC-02C1-491B-908B-0ED48226C569}" srcOrd="1" destOrd="0" presId="urn:microsoft.com/office/officeart/2005/8/layout/vProcess5"/>
    <dgm:cxn modelId="{0B327B7C-CDA4-40AE-998B-15FFD50040B5}" type="presOf" srcId="{02282373-A3EF-4BC2-B345-3522067736A0}" destId="{B5C5FE4C-5603-4BB7-8E60-1E101BF2B5F0}" srcOrd="1" destOrd="0" presId="urn:microsoft.com/office/officeart/2005/8/layout/vProcess5"/>
    <dgm:cxn modelId="{C967DDA7-1CB3-45BC-AB4F-6A817810EB6A}" type="presOf" srcId="{4F30FFC1-B350-4895-834E-48DBC2DE9EDF}" destId="{9B91CD58-37F3-4441-8749-4D0CF953BA26}" srcOrd="1" destOrd="0" presId="urn:microsoft.com/office/officeart/2005/8/layout/vProcess5"/>
    <dgm:cxn modelId="{05B1F26E-8D87-4DEF-88AB-B1DD3445AFAE}" srcId="{2DFDF25E-7F5F-4977-A806-59D4F5FD3838}" destId="{B63453D9-52C7-42BA-A602-A1CE1B371EA9}" srcOrd="2" destOrd="0" parTransId="{E4136613-C013-4338-B98B-C64F442A0CEC}" sibTransId="{F2A6B0AF-9865-43DA-A56C-91E8617EF4C4}"/>
    <dgm:cxn modelId="{AFCDA964-D0AE-4CA6-A849-3DA41D313203}" type="presOf" srcId="{E907D0A4-13AB-430C-B47A-5C4A67D28DC3}" destId="{E5F5A924-3117-4FB0-A3F3-A6CB9BFA283A}" srcOrd="0" destOrd="0" presId="urn:microsoft.com/office/officeart/2005/8/layout/vProcess5"/>
    <dgm:cxn modelId="{B0F2AE8F-9736-4BE1-AA72-99866EF789EC}" type="presParOf" srcId="{38CF6C08-1E52-4F78-950E-3FA54DCA1519}" destId="{57FE32D9-EAFD-468D-9B61-27E2492546D5}" srcOrd="0" destOrd="0" presId="urn:microsoft.com/office/officeart/2005/8/layout/vProcess5"/>
    <dgm:cxn modelId="{F2E7DE0E-9956-4EF2-8168-87B49CE74B40}" type="presParOf" srcId="{38CF6C08-1E52-4F78-950E-3FA54DCA1519}" destId="{68AE9609-556D-4FAA-B826-A9421BEDAB65}" srcOrd="1" destOrd="0" presId="urn:microsoft.com/office/officeart/2005/8/layout/vProcess5"/>
    <dgm:cxn modelId="{789E850E-37FE-4CCC-9B3B-5F820559BADE}" type="presParOf" srcId="{38CF6C08-1E52-4F78-950E-3FA54DCA1519}" destId="{9771A90A-704D-4A28-A4A0-C253FCE3F212}" srcOrd="2" destOrd="0" presId="urn:microsoft.com/office/officeart/2005/8/layout/vProcess5"/>
    <dgm:cxn modelId="{10EB9A07-FD86-496E-951E-F4C23BD1BB56}" type="presParOf" srcId="{38CF6C08-1E52-4F78-950E-3FA54DCA1519}" destId="{E534D115-3F01-4649-BE2C-E003B00D7044}" srcOrd="3" destOrd="0" presId="urn:microsoft.com/office/officeart/2005/8/layout/vProcess5"/>
    <dgm:cxn modelId="{B909EFFA-50BA-4EDD-B120-4D215F7B2009}" type="presParOf" srcId="{38CF6C08-1E52-4F78-950E-3FA54DCA1519}" destId="{E5F5A924-3117-4FB0-A3F3-A6CB9BFA283A}" srcOrd="4" destOrd="0" presId="urn:microsoft.com/office/officeart/2005/8/layout/vProcess5"/>
    <dgm:cxn modelId="{E1201B52-D835-441E-A677-B380A19D6680}" type="presParOf" srcId="{38CF6C08-1E52-4F78-950E-3FA54DCA1519}" destId="{B1F76E6D-DD14-4B81-BB75-FEF6828A5DCD}" srcOrd="5" destOrd="0" presId="urn:microsoft.com/office/officeart/2005/8/layout/vProcess5"/>
    <dgm:cxn modelId="{C0413F6E-C273-4547-B6B7-72D80B516EC7}" type="presParOf" srcId="{38CF6C08-1E52-4F78-950E-3FA54DCA1519}" destId="{9B91CD58-37F3-4441-8749-4D0CF953BA26}" srcOrd="6" destOrd="0" presId="urn:microsoft.com/office/officeart/2005/8/layout/vProcess5"/>
    <dgm:cxn modelId="{92E6E042-3D86-4C91-9048-9C6B712AF744}" type="presParOf" srcId="{38CF6C08-1E52-4F78-950E-3FA54DCA1519}" destId="{B5C5FE4C-5603-4BB7-8E60-1E101BF2B5F0}" srcOrd="7" destOrd="0" presId="urn:microsoft.com/office/officeart/2005/8/layout/vProcess5"/>
    <dgm:cxn modelId="{B9745699-67B8-42DA-AC7A-F871AE5DC41F}" type="presParOf" srcId="{38CF6C08-1E52-4F78-950E-3FA54DCA1519}" destId="{D4858FDC-02C1-491B-908B-0ED48226C56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DFDF25E-7F5F-4977-A806-59D4F5FD3838}" type="doc">
      <dgm:prSet loTypeId="urn:microsoft.com/office/officeart/2005/8/layout/vProcess5" loCatId="process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zh-CN" altLang="en-US"/>
        </a:p>
      </dgm:t>
    </dgm:pt>
    <dgm:pt modelId="{4F30FFC1-B350-4895-834E-48DBC2DE9EDF}">
      <dgm:prSet phldrT="[文本]"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pPr algn="l"/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数据来源：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UCI Repository: 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  <a:hlinkClick xmlns:r="http://schemas.openxmlformats.org/officeDocument/2006/relationships" r:id="rId1"/>
            </a:rPr>
            <a:t>http://archive.ics.uci.edu/ml/datasets.html</a:t>
          </a:r>
          <a:endParaRPr 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Wine Data Set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包含的内容为：</a:t>
          </a:r>
          <a:r>
            <a:rPr lang="en-US" sz="1600" dirty="0" err="1">
              <a:latin typeface="宋体" panose="02010600030101010101" pitchFamily="2" charset="-122"/>
              <a:ea typeface="宋体" panose="02010600030101010101" pitchFamily="2" charset="-122"/>
            </a:rPr>
            <a:t>wine.data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、</a:t>
          </a:r>
          <a:r>
            <a:rPr lang="en-US" sz="1600" dirty="0" err="1">
              <a:latin typeface="宋体" panose="02010600030101010101" pitchFamily="2" charset="-122"/>
              <a:ea typeface="宋体" panose="02010600030101010101" pitchFamily="2" charset="-122"/>
            </a:rPr>
            <a:t>wine.names</a:t>
          </a:r>
          <a:endParaRPr lang="en-US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Car Evaluation Data Set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包含的内容为：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car.data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、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car.names</a:t>
          </a:r>
          <a:endParaRPr lang="en-US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步骤：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1.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将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wine.data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的文件名后缀改为：*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.csv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2.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从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wine.names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中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获取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wine.data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缺少的属性名。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3.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用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office Excel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打开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wine.csv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，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将其各类属性名补充完整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4.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用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weka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软件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的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ArffViewer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将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wine.csv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转换为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arff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格式。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Car Evaluation Data Set 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的处理步骤与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Wine Data Set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一致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endParaRPr lang="zh-CN" altLang="en-US" sz="1600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81E86AF-DDE9-4F25-9B8C-00F2F563C822}" type="parTrans" cxnId="{C07F1362-C616-4284-A604-8361454F12A4}">
      <dgm:prSet/>
      <dgm:spPr/>
      <dgm:t>
        <a:bodyPr/>
        <a:lstStyle/>
        <a:p>
          <a:endParaRPr lang="zh-CN" altLang="en-US"/>
        </a:p>
      </dgm:t>
    </dgm:pt>
    <dgm:pt modelId="{E907D0A4-13AB-430C-B47A-5C4A67D28DC3}" type="sibTrans" cxnId="{C07F1362-C616-4284-A604-8361454F12A4}">
      <dgm:prSet/>
      <dgm:spPr>
        <a:solidFill>
          <a:schemeClr val="accent2">
            <a:lumMod val="50000"/>
            <a:alpha val="90000"/>
          </a:schemeClr>
        </a:solidFill>
      </dgm:spPr>
      <dgm:t>
        <a:bodyPr/>
        <a:lstStyle/>
        <a:p>
          <a:endParaRPr lang="zh-CN" altLang="en-US"/>
        </a:p>
      </dgm:t>
    </dgm:pt>
    <dgm:pt modelId="{38CF6C08-1E52-4F78-950E-3FA54DCA1519}" type="pres">
      <dgm:prSet presAssocID="{2DFDF25E-7F5F-4977-A806-59D4F5FD383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7FE32D9-EAFD-468D-9B61-27E2492546D5}" type="pres">
      <dgm:prSet presAssocID="{2DFDF25E-7F5F-4977-A806-59D4F5FD3838}" presName="dummyMaxCanvas" presStyleCnt="0">
        <dgm:presLayoutVars/>
      </dgm:prSet>
      <dgm:spPr/>
    </dgm:pt>
    <dgm:pt modelId="{C865C6DE-9C95-4631-9F7C-4389A1A7EDEA}" type="pres">
      <dgm:prSet presAssocID="{2DFDF25E-7F5F-4977-A806-59D4F5FD3838}" presName="OneNode_1" presStyleLbl="node1" presStyleIdx="0" presStyleCnt="1" custScaleY="200000" custLinFactNeighborX="-61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E54AFE3-0CDB-4B2E-9F9C-A0C8A20F2D16}" type="presOf" srcId="{2DFDF25E-7F5F-4977-A806-59D4F5FD3838}" destId="{38CF6C08-1E52-4F78-950E-3FA54DCA1519}" srcOrd="0" destOrd="0" presId="urn:microsoft.com/office/officeart/2005/8/layout/vProcess5"/>
    <dgm:cxn modelId="{2EA7ED81-2157-425B-BD65-01B4F875927A}" type="presOf" srcId="{4F30FFC1-B350-4895-834E-48DBC2DE9EDF}" destId="{C865C6DE-9C95-4631-9F7C-4389A1A7EDEA}" srcOrd="0" destOrd="0" presId="urn:microsoft.com/office/officeart/2005/8/layout/vProcess5"/>
    <dgm:cxn modelId="{C07F1362-C616-4284-A604-8361454F12A4}" srcId="{2DFDF25E-7F5F-4977-A806-59D4F5FD3838}" destId="{4F30FFC1-B350-4895-834E-48DBC2DE9EDF}" srcOrd="0" destOrd="0" parTransId="{081E86AF-DDE9-4F25-9B8C-00F2F563C822}" sibTransId="{E907D0A4-13AB-430C-B47A-5C4A67D28DC3}"/>
    <dgm:cxn modelId="{919F4940-8D77-485E-9624-82138A62FBFA}" type="presParOf" srcId="{38CF6C08-1E52-4F78-950E-3FA54DCA1519}" destId="{57FE32D9-EAFD-468D-9B61-27E2492546D5}" srcOrd="0" destOrd="0" presId="urn:microsoft.com/office/officeart/2005/8/layout/vProcess5"/>
    <dgm:cxn modelId="{909D65A1-7212-4A71-AAF1-41D92A07BD91}" type="presParOf" srcId="{38CF6C08-1E52-4F78-950E-3FA54DCA1519}" destId="{C865C6DE-9C95-4631-9F7C-4389A1A7EDEA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FDF25E-7F5F-4977-A806-59D4F5FD3838}" type="doc">
      <dgm:prSet loTypeId="urn:microsoft.com/office/officeart/2005/8/layout/vProcess5" loCatId="process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zh-CN" altLang="en-US"/>
        </a:p>
      </dgm:t>
    </dgm:pt>
    <dgm:pt modelId="{4F30FFC1-B350-4895-834E-48DBC2DE9EDF}">
      <dgm:prSet phldrT="[文本]"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pPr algn="l"/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步骤：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1.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打开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weka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软件，进入“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Explorer”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界面中的“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Preprocess”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标签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，加载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wine.arff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数据。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2.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点击进入“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Cluster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”：标签，单击左上角“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choose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”按钮，选择“</a:t>
          </a:r>
          <a:r>
            <a:rPr lang="en-US" sz="1600" dirty="0" err="1">
              <a:latin typeface="宋体" panose="02010600030101010101" pitchFamily="2" charset="-122"/>
              <a:ea typeface="宋体" panose="02010600030101010101" pitchFamily="2" charset="-122"/>
            </a:rPr>
            <a:t>SimpleKMeans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”算法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3.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点击“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choose”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按钮右边显示有“</a:t>
          </a:r>
          <a:r>
            <a:rPr lang="en-US" altLang="zh-CN" sz="1600" dirty="0" err="1">
              <a:latin typeface="宋体" panose="02010600030101010101" pitchFamily="2" charset="-122"/>
              <a:ea typeface="宋体" panose="02010600030101010101" pitchFamily="2" charset="-122"/>
            </a:rPr>
            <a:t>SimpleKMeans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….”</a:t>
          </a:r>
          <a:r>
            <a:rPr lang="zh-CN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的框格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，修改聚类簇数。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4.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点击“</a:t>
          </a:r>
          <a:r>
            <a:rPr lang="en-US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Ignore attributes”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选中一栏，在聚类时排除“</a:t>
          </a:r>
          <a:r>
            <a:rPr lang="en-US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Class”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该选项。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5.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点击“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Start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”按钮，开始数据处理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81E86AF-DDE9-4F25-9B8C-00F2F563C822}" type="parTrans" cxnId="{C07F1362-C616-4284-A604-8361454F12A4}">
      <dgm:prSet/>
      <dgm:spPr/>
      <dgm:t>
        <a:bodyPr/>
        <a:lstStyle/>
        <a:p>
          <a:endParaRPr lang="zh-CN" altLang="en-US"/>
        </a:p>
      </dgm:t>
    </dgm:pt>
    <dgm:pt modelId="{E907D0A4-13AB-430C-B47A-5C4A67D28DC3}" type="sibTrans" cxnId="{C07F1362-C616-4284-A604-8361454F12A4}">
      <dgm:prSet/>
      <dgm:spPr>
        <a:solidFill>
          <a:schemeClr val="accent2">
            <a:lumMod val="50000"/>
            <a:alpha val="90000"/>
          </a:schemeClr>
        </a:solidFill>
      </dgm:spPr>
      <dgm:t>
        <a:bodyPr/>
        <a:lstStyle/>
        <a:p>
          <a:endParaRPr lang="zh-CN" altLang="en-US"/>
        </a:p>
      </dgm:t>
    </dgm:pt>
    <dgm:pt modelId="{38CF6C08-1E52-4F78-950E-3FA54DCA1519}" type="pres">
      <dgm:prSet presAssocID="{2DFDF25E-7F5F-4977-A806-59D4F5FD383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7FE32D9-EAFD-468D-9B61-27E2492546D5}" type="pres">
      <dgm:prSet presAssocID="{2DFDF25E-7F5F-4977-A806-59D4F5FD3838}" presName="dummyMaxCanvas" presStyleCnt="0">
        <dgm:presLayoutVars/>
      </dgm:prSet>
      <dgm:spPr/>
    </dgm:pt>
    <dgm:pt modelId="{C865C6DE-9C95-4631-9F7C-4389A1A7EDEA}" type="pres">
      <dgm:prSet presAssocID="{2DFDF25E-7F5F-4977-A806-59D4F5FD3838}" presName="OneNode_1" presStyleLbl="node1" presStyleIdx="0" presStyleCnt="1" custScaleY="185874" custLinFactNeighborX="-61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6479EAE-54A2-4507-8A60-4BADE56EC169}" type="presOf" srcId="{2DFDF25E-7F5F-4977-A806-59D4F5FD3838}" destId="{38CF6C08-1E52-4F78-950E-3FA54DCA1519}" srcOrd="0" destOrd="0" presId="urn:microsoft.com/office/officeart/2005/8/layout/vProcess5"/>
    <dgm:cxn modelId="{9A1DF819-AE9E-45FB-8AE6-60CA23239FBF}" type="presOf" srcId="{4F30FFC1-B350-4895-834E-48DBC2DE9EDF}" destId="{C865C6DE-9C95-4631-9F7C-4389A1A7EDEA}" srcOrd="0" destOrd="0" presId="urn:microsoft.com/office/officeart/2005/8/layout/vProcess5"/>
    <dgm:cxn modelId="{C07F1362-C616-4284-A604-8361454F12A4}" srcId="{2DFDF25E-7F5F-4977-A806-59D4F5FD3838}" destId="{4F30FFC1-B350-4895-834E-48DBC2DE9EDF}" srcOrd="0" destOrd="0" parTransId="{081E86AF-DDE9-4F25-9B8C-00F2F563C822}" sibTransId="{E907D0A4-13AB-430C-B47A-5C4A67D28DC3}"/>
    <dgm:cxn modelId="{5BF4E7E3-C4A8-494C-926C-C5B00EA471A5}" type="presParOf" srcId="{38CF6C08-1E52-4F78-950E-3FA54DCA1519}" destId="{57FE32D9-EAFD-468D-9B61-27E2492546D5}" srcOrd="0" destOrd="0" presId="urn:microsoft.com/office/officeart/2005/8/layout/vProcess5"/>
    <dgm:cxn modelId="{7DB16D47-784F-47D2-821E-D43FE4B31AC5}" type="presParOf" srcId="{38CF6C08-1E52-4F78-950E-3FA54DCA1519}" destId="{C865C6DE-9C95-4631-9F7C-4389A1A7EDEA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DFDF25E-7F5F-4977-A806-59D4F5FD3838}" type="doc">
      <dgm:prSet loTypeId="urn:microsoft.com/office/officeart/2005/8/layout/vProcess5" loCatId="process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zh-CN" altLang="en-US"/>
        </a:p>
      </dgm:t>
    </dgm:pt>
    <dgm:pt modelId="{4F30FFC1-B350-4895-834E-48DBC2DE9EDF}">
      <dgm:prSet phldrT="[文本]"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pPr algn="l"/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步骤：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1.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在实验界面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“Result list”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列出的结果上右击，点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“Visualize cluster assignments”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。弹出的窗口给出了各实例的散点图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2.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点击“</a:t>
          </a:r>
          <a:r>
            <a:rPr lang="en-US" sz="1600" dirty="0">
              <a:latin typeface="宋体" panose="02010600030101010101" pitchFamily="2" charset="-122"/>
              <a:ea typeface="宋体" panose="02010600030101010101" pitchFamily="2" charset="-122"/>
            </a:rPr>
            <a:t>Save</a:t>
          </a:r>
          <a:r>
            <a:rPr lang="zh-CN" sz="1600" dirty="0">
              <a:latin typeface="宋体" panose="02010600030101010101" pitchFamily="2" charset="-122"/>
              <a:ea typeface="宋体" panose="02010600030101010101" pitchFamily="2" charset="-122"/>
            </a:rPr>
            <a:t>”把聚类结果保存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algn="l"/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3.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将文件后缀名改为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csv,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并用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Excel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打开，对比原始分类结果及</a:t>
          </a:r>
          <a:r>
            <a:rPr lang="en-US" altLang="zh-CN" sz="1600" dirty="0">
              <a:latin typeface="宋体" panose="02010600030101010101" pitchFamily="2" charset="-122"/>
              <a:ea typeface="宋体" panose="02010600030101010101" pitchFamily="2" charset="-122"/>
            </a:rPr>
            <a:t>K-means</a:t>
          </a:r>
          <a:r>
            <a:rPr lang="zh-CN" altLang="en-US" sz="1600" dirty="0">
              <a:latin typeface="宋体" panose="02010600030101010101" pitchFamily="2" charset="-122"/>
              <a:ea typeface="宋体" panose="02010600030101010101" pitchFamily="2" charset="-122"/>
            </a:rPr>
            <a:t>分类结果。</a:t>
          </a:r>
          <a:endParaRPr lang="en-US" altLang="zh-CN" sz="1600" dirty="0">
            <a:latin typeface="宋体" panose="02010600030101010101" pitchFamily="2" charset="-122"/>
            <a:ea typeface="宋体" panose="02010600030101010101" pitchFamily="2" charset="-122"/>
          </a:endParaRPr>
        </a:p>
      </dgm:t>
    </dgm:pt>
    <dgm:pt modelId="{081E86AF-DDE9-4F25-9B8C-00F2F563C822}" type="parTrans" cxnId="{C07F1362-C616-4284-A604-8361454F12A4}">
      <dgm:prSet/>
      <dgm:spPr/>
      <dgm:t>
        <a:bodyPr/>
        <a:lstStyle/>
        <a:p>
          <a:endParaRPr lang="zh-CN" altLang="en-US"/>
        </a:p>
      </dgm:t>
    </dgm:pt>
    <dgm:pt modelId="{E907D0A4-13AB-430C-B47A-5C4A67D28DC3}" type="sibTrans" cxnId="{C07F1362-C616-4284-A604-8361454F12A4}">
      <dgm:prSet/>
      <dgm:spPr>
        <a:solidFill>
          <a:schemeClr val="accent2">
            <a:lumMod val="50000"/>
            <a:alpha val="90000"/>
          </a:schemeClr>
        </a:solidFill>
      </dgm:spPr>
      <dgm:t>
        <a:bodyPr/>
        <a:lstStyle/>
        <a:p>
          <a:endParaRPr lang="zh-CN" altLang="en-US"/>
        </a:p>
      </dgm:t>
    </dgm:pt>
    <dgm:pt modelId="{38CF6C08-1E52-4F78-950E-3FA54DCA1519}" type="pres">
      <dgm:prSet presAssocID="{2DFDF25E-7F5F-4977-A806-59D4F5FD383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7FE32D9-EAFD-468D-9B61-27E2492546D5}" type="pres">
      <dgm:prSet presAssocID="{2DFDF25E-7F5F-4977-A806-59D4F5FD3838}" presName="dummyMaxCanvas" presStyleCnt="0">
        <dgm:presLayoutVars/>
      </dgm:prSet>
      <dgm:spPr/>
    </dgm:pt>
    <dgm:pt modelId="{C865C6DE-9C95-4631-9F7C-4389A1A7EDEA}" type="pres">
      <dgm:prSet presAssocID="{2DFDF25E-7F5F-4977-A806-59D4F5FD3838}" presName="OneNode_1" presStyleLbl="node1" presStyleIdx="0" presStyleCnt="1" custScaleY="185874" custLinFactNeighborX="-61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9553704-3238-4A33-899A-ACAC7E4A3D56}" type="presOf" srcId="{4F30FFC1-B350-4895-834E-48DBC2DE9EDF}" destId="{C865C6DE-9C95-4631-9F7C-4389A1A7EDEA}" srcOrd="0" destOrd="0" presId="urn:microsoft.com/office/officeart/2005/8/layout/vProcess5"/>
    <dgm:cxn modelId="{C07F1362-C616-4284-A604-8361454F12A4}" srcId="{2DFDF25E-7F5F-4977-A806-59D4F5FD3838}" destId="{4F30FFC1-B350-4895-834E-48DBC2DE9EDF}" srcOrd="0" destOrd="0" parTransId="{081E86AF-DDE9-4F25-9B8C-00F2F563C822}" sibTransId="{E907D0A4-13AB-430C-B47A-5C4A67D28DC3}"/>
    <dgm:cxn modelId="{08D39A1D-5268-4BC6-AF51-9A89D1A3BC37}" type="presOf" srcId="{2DFDF25E-7F5F-4977-A806-59D4F5FD3838}" destId="{38CF6C08-1E52-4F78-950E-3FA54DCA1519}" srcOrd="0" destOrd="0" presId="urn:microsoft.com/office/officeart/2005/8/layout/vProcess5"/>
    <dgm:cxn modelId="{3C1C60FF-6823-42A7-A7C6-FDD6B1DCC2CB}" type="presParOf" srcId="{38CF6C08-1E52-4F78-950E-3FA54DCA1519}" destId="{57FE32D9-EAFD-468D-9B61-27E2492546D5}" srcOrd="0" destOrd="0" presId="urn:microsoft.com/office/officeart/2005/8/layout/vProcess5"/>
    <dgm:cxn modelId="{37F2705D-35D8-4926-AB91-20BD10BD44C7}" type="presParOf" srcId="{38CF6C08-1E52-4F78-950E-3FA54DCA1519}" destId="{C865C6DE-9C95-4631-9F7C-4389A1A7EDEA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DFDF25E-7F5F-4977-A806-59D4F5FD3838}" type="doc">
      <dgm:prSet loTypeId="urn:microsoft.com/office/officeart/2005/8/layout/vProcess5" loCatId="process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zh-CN" altLang="en-US"/>
        </a:p>
      </dgm:t>
    </dgm:pt>
    <dgm:pt modelId="{4F30FFC1-B350-4895-834E-48DBC2DE9EDF}">
      <dgm:prSet phldrT="[文本]" custT="1"/>
      <dgm:spPr>
        <a:solidFill>
          <a:schemeClr val="tx2">
            <a:lumMod val="75000"/>
            <a:lumOff val="25000"/>
          </a:schemeClr>
        </a:solidFill>
      </dgm:spPr>
      <dgm:t>
        <a:bodyPr/>
        <a:lstStyle/>
        <a:p>
          <a:pPr algn="l"/>
          <a:r>
            <a:rPr lang="zh-CN" sz="1600" b="1" dirty="0"/>
            <a:t>对</a:t>
          </a:r>
          <a:r>
            <a:rPr lang="en-US" sz="1600" b="1" dirty="0">
              <a:solidFill>
                <a:srgbClr val="FF0000"/>
              </a:solidFill>
            </a:rPr>
            <a:t>Car Evaluation Data Set</a:t>
          </a:r>
          <a:r>
            <a:rPr lang="zh-CN" sz="1600" b="1" dirty="0"/>
            <a:t>进行</a:t>
          </a:r>
          <a:r>
            <a:rPr lang="en-US" sz="1600" b="1" dirty="0" err="1">
              <a:solidFill>
                <a:srgbClr val="FF0000"/>
              </a:solidFill>
            </a:rPr>
            <a:t>SimpleKMeans</a:t>
          </a:r>
          <a:r>
            <a:rPr lang="zh-CN" sz="1600" b="1" dirty="0" smtClean="0"/>
            <a:t>聚类</a:t>
          </a:r>
          <a:r>
            <a:rPr lang="zh-CN" altLang="en-US" sz="1600" b="1" dirty="0" smtClean="0"/>
            <a:t>，与</a:t>
          </a:r>
          <a:r>
            <a:rPr lang="zh-CN" altLang="en-US" sz="1600" b="1" dirty="0"/>
            <a:t>上边的实验步骤类似，具体请参照</a:t>
          </a:r>
          <a:r>
            <a:rPr lang="en-US" altLang="zh-CN" sz="1600" b="1" dirty="0"/>
            <a:t>PDF</a:t>
          </a:r>
          <a:r>
            <a:rPr lang="zh-CN" altLang="en-US" sz="1600" b="1" dirty="0"/>
            <a:t>文件</a:t>
          </a:r>
          <a:r>
            <a:rPr lang="en-US" altLang="zh-CN" sz="1600" b="1" dirty="0"/>
            <a:t>《</a:t>
          </a:r>
          <a:r>
            <a:rPr lang="zh-CN" altLang="en-US" sz="1600" b="1" dirty="0"/>
            <a:t>实验指南</a:t>
          </a:r>
          <a:r>
            <a:rPr lang="en-US" altLang="zh-CN" sz="1600" b="1" dirty="0"/>
            <a:t>》</a:t>
          </a:r>
          <a:r>
            <a:rPr lang="zh-CN" altLang="en-US" sz="1600" b="1" dirty="0"/>
            <a:t>进行实验。</a:t>
          </a:r>
          <a:endParaRPr lang="en-US" altLang="zh-CN" sz="1600" b="1" dirty="0"/>
        </a:p>
      </dgm:t>
    </dgm:pt>
    <dgm:pt modelId="{081E86AF-DDE9-4F25-9B8C-00F2F563C822}" type="parTrans" cxnId="{C07F1362-C616-4284-A604-8361454F12A4}">
      <dgm:prSet/>
      <dgm:spPr/>
      <dgm:t>
        <a:bodyPr/>
        <a:lstStyle/>
        <a:p>
          <a:endParaRPr lang="zh-CN" altLang="en-US"/>
        </a:p>
      </dgm:t>
    </dgm:pt>
    <dgm:pt modelId="{E907D0A4-13AB-430C-B47A-5C4A67D28DC3}" type="sibTrans" cxnId="{C07F1362-C616-4284-A604-8361454F12A4}">
      <dgm:prSet/>
      <dgm:spPr>
        <a:solidFill>
          <a:schemeClr val="accent2">
            <a:lumMod val="50000"/>
            <a:alpha val="90000"/>
          </a:schemeClr>
        </a:solidFill>
      </dgm:spPr>
      <dgm:t>
        <a:bodyPr/>
        <a:lstStyle/>
        <a:p>
          <a:endParaRPr lang="zh-CN" altLang="en-US"/>
        </a:p>
      </dgm:t>
    </dgm:pt>
    <dgm:pt modelId="{38CF6C08-1E52-4F78-950E-3FA54DCA1519}" type="pres">
      <dgm:prSet presAssocID="{2DFDF25E-7F5F-4977-A806-59D4F5FD3838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7FE32D9-EAFD-468D-9B61-27E2492546D5}" type="pres">
      <dgm:prSet presAssocID="{2DFDF25E-7F5F-4977-A806-59D4F5FD3838}" presName="dummyMaxCanvas" presStyleCnt="0">
        <dgm:presLayoutVars/>
      </dgm:prSet>
      <dgm:spPr/>
    </dgm:pt>
    <dgm:pt modelId="{C865C6DE-9C95-4631-9F7C-4389A1A7EDEA}" type="pres">
      <dgm:prSet presAssocID="{2DFDF25E-7F5F-4977-A806-59D4F5FD3838}" presName="OneNode_1" presStyleLbl="node1" presStyleIdx="0" presStyleCnt="1" custScaleY="185874" custLinFactNeighborX="-619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E955A20-EBCD-4E72-8DA8-9264FDA5342D}" type="presOf" srcId="{2DFDF25E-7F5F-4977-A806-59D4F5FD3838}" destId="{38CF6C08-1E52-4F78-950E-3FA54DCA1519}" srcOrd="0" destOrd="0" presId="urn:microsoft.com/office/officeart/2005/8/layout/vProcess5"/>
    <dgm:cxn modelId="{C07F1362-C616-4284-A604-8361454F12A4}" srcId="{2DFDF25E-7F5F-4977-A806-59D4F5FD3838}" destId="{4F30FFC1-B350-4895-834E-48DBC2DE9EDF}" srcOrd="0" destOrd="0" parTransId="{081E86AF-DDE9-4F25-9B8C-00F2F563C822}" sibTransId="{E907D0A4-13AB-430C-B47A-5C4A67D28DC3}"/>
    <dgm:cxn modelId="{5B20E30D-7777-45F2-8BCD-79C7E7CCAA65}" type="presOf" srcId="{4F30FFC1-B350-4895-834E-48DBC2DE9EDF}" destId="{C865C6DE-9C95-4631-9F7C-4389A1A7EDEA}" srcOrd="0" destOrd="0" presId="urn:microsoft.com/office/officeart/2005/8/layout/vProcess5"/>
    <dgm:cxn modelId="{38ECE700-D36D-44F9-A2A2-842E0BCD135D}" type="presParOf" srcId="{38CF6C08-1E52-4F78-950E-3FA54DCA1519}" destId="{57FE32D9-EAFD-468D-9B61-27E2492546D5}" srcOrd="0" destOrd="0" presId="urn:microsoft.com/office/officeart/2005/8/layout/vProcess5"/>
    <dgm:cxn modelId="{B3B3D184-1EF5-4D5A-9689-FCFC1CECA834}" type="presParOf" srcId="{38CF6C08-1E52-4F78-950E-3FA54DCA1519}" destId="{C865C6DE-9C95-4631-9F7C-4389A1A7EDEA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5C6DE-9C95-4631-9F7C-4389A1A7EDEA}">
      <dsp:nvSpPr>
        <dsp:cNvPr id="0" name=""/>
        <dsp:cNvSpPr/>
      </dsp:nvSpPr>
      <dsp:spPr>
        <a:xfrm>
          <a:off x="0" y="120825"/>
          <a:ext cx="9853749" cy="3179727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>
              <a:latin typeface="宋体" panose="02010600030101010101" pitchFamily="2" charset="-122"/>
              <a:ea typeface="宋体" panose="02010600030101010101" pitchFamily="2" charset="-122"/>
            </a:rPr>
            <a:t>实验内容：使用</a:t>
          </a:r>
          <a:r>
            <a:rPr lang="en-US" altLang="zh-CN" sz="2000" kern="1200" dirty="0">
              <a:latin typeface="宋体" panose="02010600030101010101" pitchFamily="2" charset="-122"/>
              <a:ea typeface="宋体" panose="02010600030101010101" pitchFamily="2" charset="-122"/>
            </a:rPr>
            <a:t>K-means</a:t>
          </a:r>
          <a:r>
            <a:rPr lang="zh-CN" altLang="en-US" sz="2000" kern="1200" dirty="0">
              <a:latin typeface="宋体" panose="02010600030101010101" pitchFamily="2" charset="-122"/>
              <a:ea typeface="宋体" panose="02010600030101010101" pitchFamily="2" charset="-122"/>
            </a:rPr>
            <a:t>算法对数据进行聚类，并对比结果，进行分析。</a:t>
          </a:r>
          <a:endParaRPr lang="en-US" altLang="zh-CN" sz="20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>
              <a:latin typeface="宋体" panose="02010600030101010101" pitchFamily="2" charset="-122"/>
              <a:ea typeface="宋体" panose="02010600030101010101" pitchFamily="2" charset="-122"/>
            </a:rPr>
            <a:t>实验目的：</a:t>
          </a:r>
          <a:endParaRPr lang="en-US" altLang="zh-CN" sz="20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>
              <a:latin typeface="宋体" panose="02010600030101010101" pitchFamily="2" charset="-122"/>
              <a:ea typeface="宋体" panose="02010600030101010101" pitchFamily="2" charset="-122"/>
            </a:rPr>
            <a:t>1.</a:t>
          </a:r>
          <a:r>
            <a:rPr lang="zh-CN" altLang="en-US" sz="2000" kern="1200" dirty="0">
              <a:latin typeface="宋体" panose="02010600030101010101" pitchFamily="2" charset="-122"/>
              <a:ea typeface="宋体" panose="02010600030101010101" pitchFamily="2" charset="-122"/>
            </a:rPr>
            <a:t>学会处理数据。</a:t>
          </a:r>
          <a:endParaRPr lang="en-US" altLang="zh-CN" sz="20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>
              <a:latin typeface="宋体" panose="02010600030101010101" pitchFamily="2" charset="-122"/>
              <a:ea typeface="宋体" panose="02010600030101010101" pitchFamily="2" charset="-122"/>
            </a:rPr>
            <a:t>2.</a:t>
          </a:r>
          <a:r>
            <a:rPr lang="zh-CN" altLang="en-US" sz="2000" kern="1200" dirty="0">
              <a:latin typeface="宋体" panose="02010600030101010101" pitchFamily="2" charset="-122"/>
              <a:ea typeface="宋体" panose="02010600030101010101" pitchFamily="2" charset="-122"/>
            </a:rPr>
            <a:t>掌握基本的聚类方法。</a:t>
          </a:r>
          <a:endParaRPr lang="en-US" altLang="zh-CN" sz="20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kern="1200" dirty="0">
              <a:latin typeface="宋体" panose="02010600030101010101" pitchFamily="2" charset="-122"/>
              <a:ea typeface="宋体" panose="02010600030101010101" pitchFamily="2" charset="-122"/>
            </a:rPr>
            <a:t>3.</a:t>
          </a:r>
          <a:r>
            <a:rPr lang="zh-CN" altLang="en-US" sz="2000" kern="1200" dirty="0">
              <a:latin typeface="宋体" panose="02010600030101010101" pitchFamily="2" charset="-122"/>
              <a:ea typeface="宋体" panose="02010600030101010101" pitchFamily="2" charset="-122"/>
            </a:rPr>
            <a:t>验证</a:t>
          </a:r>
          <a:r>
            <a:rPr lang="en-US" altLang="zh-CN" sz="2000" kern="1200" dirty="0">
              <a:latin typeface="宋体" panose="02010600030101010101" pitchFamily="2" charset="-122"/>
              <a:ea typeface="宋体" panose="02010600030101010101" pitchFamily="2" charset="-122"/>
            </a:rPr>
            <a:t>K-means</a:t>
          </a:r>
          <a:r>
            <a:rPr lang="zh-CN" altLang="en-US" sz="2000" kern="1200" dirty="0">
              <a:latin typeface="宋体" panose="02010600030101010101" pitchFamily="2" charset="-122"/>
              <a:ea typeface="宋体" panose="02010600030101010101" pitchFamily="2" charset="-122"/>
            </a:rPr>
            <a:t>聚类方法的可行性。</a:t>
          </a:r>
          <a:endParaRPr lang="en-US" altLang="zh-CN" sz="20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0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93131" y="213956"/>
        <a:ext cx="9667487" cy="29934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E9609-556D-4FAA-B826-A9421BEDAB65}">
      <dsp:nvSpPr>
        <dsp:cNvPr id="0" name=""/>
        <dsp:cNvSpPr/>
      </dsp:nvSpPr>
      <dsp:spPr>
        <a:xfrm>
          <a:off x="0" y="0"/>
          <a:ext cx="5908872" cy="667239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处理数据</a:t>
          </a:r>
        </a:p>
      </dsp:txBody>
      <dsp:txXfrm>
        <a:off x="19543" y="19543"/>
        <a:ext cx="5188868" cy="628153"/>
      </dsp:txXfrm>
    </dsp:sp>
    <dsp:sp modelId="{9771A90A-704D-4A28-A4A0-C253FCE3F212}">
      <dsp:nvSpPr>
        <dsp:cNvPr id="0" name=""/>
        <dsp:cNvSpPr/>
      </dsp:nvSpPr>
      <dsp:spPr>
        <a:xfrm>
          <a:off x="521371" y="778446"/>
          <a:ext cx="5908872" cy="667239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使用</a:t>
          </a:r>
          <a:r>
            <a:rPr lang="en-US" altLang="zh-CN" sz="2200" kern="1200" dirty="0" err="1"/>
            <a:t>Weka</a:t>
          </a:r>
          <a:r>
            <a:rPr lang="zh-CN" altLang="en-US" sz="2200" kern="1200" dirty="0"/>
            <a:t>对数据进行聚类</a:t>
          </a:r>
        </a:p>
      </dsp:txBody>
      <dsp:txXfrm>
        <a:off x="540914" y="797989"/>
        <a:ext cx="4914709" cy="628153"/>
      </dsp:txXfrm>
    </dsp:sp>
    <dsp:sp modelId="{E534D115-3F01-4649-BE2C-E003B00D7044}">
      <dsp:nvSpPr>
        <dsp:cNvPr id="0" name=""/>
        <dsp:cNvSpPr/>
      </dsp:nvSpPr>
      <dsp:spPr>
        <a:xfrm>
          <a:off x="1042742" y="1556893"/>
          <a:ext cx="5908872" cy="667239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200" kern="1200" dirty="0"/>
            <a:t>分析实验结果</a:t>
          </a:r>
        </a:p>
      </dsp:txBody>
      <dsp:txXfrm>
        <a:off x="1062285" y="1576436"/>
        <a:ext cx="4914709" cy="628153"/>
      </dsp:txXfrm>
    </dsp:sp>
    <dsp:sp modelId="{E5F5A924-3117-4FB0-A3F3-A6CB9BFA283A}">
      <dsp:nvSpPr>
        <dsp:cNvPr id="0" name=""/>
        <dsp:cNvSpPr/>
      </dsp:nvSpPr>
      <dsp:spPr>
        <a:xfrm>
          <a:off x="5475166" y="505990"/>
          <a:ext cx="433705" cy="43370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lumMod val="50000"/>
            <a:alpha val="90000"/>
          </a:schemeClr>
        </a:solidFill>
        <a:ln w="12700" cap="flat" cmpd="sng" algn="ctr">
          <a:solidFill>
            <a:schemeClr val="accent3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100" kern="1200"/>
        </a:p>
      </dsp:txBody>
      <dsp:txXfrm>
        <a:off x="5572750" y="505990"/>
        <a:ext cx="238537" cy="326363"/>
      </dsp:txXfrm>
    </dsp:sp>
    <dsp:sp modelId="{B1F76E6D-DD14-4B81-BB75-FEF6828A5DCD}">
      <dsp:nvSpPr>
        <dsp:cNvPr id="0" name=""/>
        <dsp:cNvSpPr/>
      </dsp:nvSpPr>
      <dsp:spPr>
        <a:xfrm>
          <a:off x="5996537" y="1279988"/>
          <a:ext cx="433705" cy="433705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lumMod val="50000"/>
            <a:alpha val="90000"/>
          </a:schemeClr>
        </a:solidFill>
        <a:ln w="12700" cap="flat" cmpd="sng" algn="ctr">
          <a:solidFill>
            <a:schemeClr val="accent3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100" kern="1200"/>
        </a:p>
      </dsp:txBody>
      <dsp:txXfrm>
        <a:off x="6094121" y="1279988"/>
        <a:ext cx="238537" cy="3263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5C6DE-9C95-4631-9F7C-4389A1A7EDEA}">
      <dsp:nvSpPr>
        <dsp:cNvPr id="0" name=""/>
        <dsp:cNvSpPr/>
      </dsp:nvSpPr>
      <dsp:spPr>
        <a:xfrm>
          <a:off x="0" y="0"/>
          <a:ext cx="6339333" cy="4361047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数据来源：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UCI Repository: 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  <a:hlinkClick xmlns:r="http://schemas.openxmlformats.org/officeDocument/2006/relationships" r:id="rId1"/>
            </a:rPr>
            <a:t>http://archive.ics.uci.edu/ml/datasets.html</a:t>
          </a:r>
          <a:endParaRPr 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Wine Data Set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包含的内容为：</a:t>
          </a:r>
          <a:r>
            <a:rPr lang="en-US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wine.data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、</a:t>
          </a:r>
          <a:r>
            <a:rPr lang="en-US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wine.names</a:t>
          </a:r>
          <a:endParaRPr lang="en-US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Car Evaluation Data Set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包含的内容为：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car.data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、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car.names</a:t>
          </a:r>
          <a:endParaRPr lang="en-US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步骤：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1.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将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wine.data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的文件名后缀改为：*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.csv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2.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从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wine.names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中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获取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wine.data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缺少的属性名。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3.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用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office Excel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打开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wine.csv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，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将其各类属性名补充完整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4.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用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weka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软件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的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ArffViewer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将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wine.csv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转换为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arff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格式。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Car Evaluation Data Set 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的处理步骤与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Wine Data Set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一致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27731" y="127731"/>
        <a:ext cx="6083871" cy="41055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5C6DE-9C95-4631-9F7C-4389A1A7EDEA}">
      <dsp:nvSpPr>
        <dsp:cNvPr id="0" name=""/>
        <dsp:cNvSpPr/>
      </dsp:nvSpPr>
      <dsp:spPr>
        <a:xfrm>
          <a:off x="0" y="142165"/>
          <a:ext cx="5904412" cy="3741304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步骤：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1.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打开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weka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软件，进入“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Explorer”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界面中的“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Preprocess”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标签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，加载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wine.arff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数据。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2.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点击进入“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Cluster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”：标签，单击左上角“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choose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”按钮，选择“</a:t>
          </a:r>
          <a:r>
            <a:rPr lang="en-US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SimpleKMeans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”算法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3.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点击“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choose”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按钮右边显示有“</a:t>
          </a:r>
          <a:r>
            <a:rPr lang="en-US" altLang="zh-CN" sz="1600" kern="1200" dirty="0" err="1">
              <a:latin typeface="宋体" panose="02010600030101010101" pitchFamily="2" charset="-122"/>
              <a:ea typeface="宋体" panose="02010600030101010101" pitchFamily="2" charset="-122"/>
            </a:rPr>
            <a:t>SimpleKMeans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….”</a:t>
          </a:r>
          <a:r>
            <a:rPr lang="zh-CN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的框格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，修改聚类簇数。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4.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点击“</a:t>
          </a:r>
          <a:r>
            <a:rPr lang="en-US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Ignore attributes”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选中一栏，在聚类时排除“</a:t>
          </a:r>
          <a:r>
            <a:rPr lang="en-US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Class”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该选项。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5.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点击“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Start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”按钮，开始数据处理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09579" y="251744"/>
        <a:ext cx="5685254" cy="35221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5C6DE-9C95-4631-9F7C-4389A1A7EDEA}">
      <dsp:nvSpPr>
        <dsp:cNvPr id="0" name=""/>
        <dsp:cNvSpPr/>
      </dsp:nvSpPr>
      <dsp:spPr>
        <a:xfrm>
          <a:off x="0" y="142165"/>
          <a:ext cx="5904412" cy="3741304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步骤：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1.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在实验界面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“Result list”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列出的结果上右击，点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“Visualize cluster assignments”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。弹出的窗口给出了各实例的散点图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2.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点击“</a:t>
          </a:r>
          <a:r>
            <a:rPr 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Save</a:t>
          </a:r>
          <a:r>
            <a:rPr 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”把聚类结果保存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3.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将文件后缀名改为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csv,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并用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Excel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打开，对比原始分类结果及</a:t>
          </a:r>
          <a:r>
            <a:rPr lang="en-US" altLang="zh-CN" sz="1600" kern="1200" dirty="0">
              <a:latin typeface="宋体" panose="02010600030101010101" pitchFamily="2" charset="-122"/>
              <a:ea typeface="宋体" panose="02010600030101010101" pitchFamily="2" charset="-122"/>
            </a:rPr>
            <a:t>K-means</a:t>
          </a:r>
          <a:r>
            <a:rPr lang="zh-CN" altLang="en-US" sz="1600" kern="1200" dirty="0">
              <a:latin typeface="宋体" panose="02010600030101010101" pitchFamily="2" charset="-122"/>
              <a:ea typeface="宋体" panose="02010600030101010101" pitchFamily="2" charset="-122"/>
            </a:rPr>
            <a:t>分类结果。</a:t>
          </a:r>
          <a:endParaRPr lang="en-US" altLang="zh-CN" sz="1600" kern="1200" dirty="0">
            <a:latin typeface="宋体" panose="02010600030101010101" pitchFamily="2" charset="-122"/>
            <a:ea typeface="宋体" panose="02010600030101010101" pitchFamily="2" charset="-122"/>
          </a:endParaRPr>
        </a:p>
      </dsp:txBody>
      <dsp:txXfrm>
        <a:off x="109579" y="251744"/>
        <a:ext cx="5685254" cy="35221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5C6DE-9C95-4631-9F7C-4389A1A7EDEA}">
      <dsp:nvSpPr>
        <dsp:cNvPr id="0" name=""/>
        <dsp:cNvSpPr/>
      </dsp:nvSpPr>
      <dsp:spPr>
        <a:xfrm>
          <a:off x="0" y="135091"/>
          <a:ext cx="6892833" cy="3555154"/>
        </a:xfrm>
        <a:prstGeom prst="roundRect">
          <a:avLst>
            <a:gd name="adj" fmla="val 10000"/>
          </a:avLst>
        </a:prstGeom>
        <a:solidFill>
          <a:schemeClr val="tx2">
            <a:lumMod val="75000"/>
            <a:lumOff val="2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/>
            <a:t>对</a:t>
          </a:r>
          <a:r>
            <a:rPr lang="en-US" sz="1600" b="1" kern="1200" dirty="0">
              <a:solidFill>
                <a:srgbClr val="FF0000"/>
              </a:solidFill>
            </a:rPr>
            <a:t>Car Evaluation Data Set</a:t>
          </a:r>
          <a:r>
            <a:rPr lang="zh-CN" sz="1600" b="1" kern="1200" dirty="0"/>
            <a:t>进行</a:t>
          </a:r>
          <a:r>
            <a:rPr lang="en-US" sz="1600" b="1" kern="1200" dirty="0" err="1">
              <a:solidFill>
                <a:srgbClr val="FF0000"/>
              </a:solidFill>
            </a:rPr>
            <a:t>SimpleKMeans</a:t>
          </a:r>
          <a:r>
            <a:rPr lang="zh-CN" sz="1600" b="1" kern="1200" dirty="0" smtClean="0"/>
            <a:t>聚类</a:t>
          </a:r>
          <a:r>
            <a:rPr lang="zh-CN" altLang="en-US" sz="1600" b="1" kern="1200" dirty="0" smtClean="0"/>
            <a:t>，与</a:t>
          </a:r>
          <a:r>
            <a:rPr lang="zh-CN" altLang="en-US" sz="1600" b="1" kern="1200" dirty="0"/>
            <a:t>上边的实验步骤类似，具体请参照</a:t>
          </a:r>
          <a:r>
            <a:rPr lang="en-US" altLang="zh-CN" sz="1600" b="1" kern="1200" dirty="0"/>
            <a:t>PDF</a:t>
          </a:r>
          <a:r>
            <a:rPr lang="zh-CN" altLang="en-US" sz="1600" b="1" kern="1200" dirty="0"/>
            <a:t>文件</a:t>
          </a:r>
          <a:r>
            <a:rPr lang="en-US" altLang="zh-CN" sz="1600" b="1" kern="1200" dirty="0"/>
            <a:t>《</a:t>
          </a:r>
          <a:r>
            <a:rPr lang="zh-CN" altLang="en-US" sz="1600" b="1" kern="1200" dirty="0"/>
            <a:t>实验指南</a:t>
          </a:r>
          <a:r>
            <a:rPr lang="en-US" altLang="zh-CN" sz="1600" b="1" kern="1200" dirty="0"/>
            <a:t>》</a:t>
          </a:r>
          <a:r>
            <a:rPr lang="zh-CN" altLang="en-US" sz="1600" b="1" kern="1200" dirty="0"/>
            <a:t>进行实验。</a:t>
          </a:r>
          <a:endParaRPr lang="en-US" altLang="zh-CN" sz="1600" b="1" kern="1200" dirty="0"/>
        </a:p>
      </dsp:txBody>
      <dsp:txXfrm>
        <a:off x="104127" y="239218"/>
        <a:ext cx="6684579" cy="33469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8605D-318D-42CF-840C-8BAED434C36E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1EA841-8334-43BE-B064-788DFAA9DC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713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952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83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33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08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34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790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94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497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314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431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9704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581400"/>
            <a:ext cx="12192000" cy="60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917" y="4038600"/>
            <a:ext cx="12139083" cy="304800"/>
          </a:xfrm>
        </p:spPr>
        <p:txBody>
          <a:bodyPr/>
          <a:lstStyle>
            <a:lvl1pPr marL="0" indent="0">
              <a:buFontTx/>
              <a:buNone/>
              <a:defRPr sz="1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fld id="{DB546EC3-3C06-4DCF-B8AA-19158986B1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6492566"/>
      </p:ext>
    </p:extLst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FD09B-A037-4F68-B800-1A5F0A1017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608899"/>
      </p:ext>
    </p:extLst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189" indent="0">
              <a:buNone/>
              <a:defRPr sz="2000"/>
            </a:lvl2pPr>
            <a:lvl3pPr marL="914377" indent="0">
              <a:buNone/>
              <a:defRPr sz="18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75F84-582D-4461-B6A9-C8CCD51C229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150599"/>
      </p:ext>
    </p:extLst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457200"/>
            <a:ext cx="5994400" cy="594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457200"/>
            <a:ext cx="5994400" cy="594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B7599-44C9-41F4-A674-DE950E0206A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97926"/>
      </p:ext>
    </p:extLst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8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11315E-106F-4B84-98D2-18FC5FEE661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0024762"/>
      </p:ext>
    </p:extLst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6B3A9-5455-4787-9A96-9210FD9C30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382565"/>
      </p:ext>
    </p:extLst>
  </p:cSld>
  <p:clrMapOvr>
    <a:masterClrMapping/>
  </p:clrMapOvr>
  <p:transition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620F5-700D-4D1C-95B0-8644425747C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848070"/>
      </p:ext>
    </p:extLst>
  </p:cSld>
  <p:clrMapOvr>
    <a:masterClrMapping/>
  </p:clrMapOvr>
  <p:transition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02D9F8-EE61-41B3-B340-6212F694E09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187959"/>
      </p:ext>
    </p:extLst>
  </p:cSld>
  <p:clrMapOvr>
    <a:masterClrMapping/>
  </p:clrMapOvr>
  <p:transition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E20F40-AB55-4F94-BA8C-8BB9327427B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494246"/>
      </p:ext>
    </p:extLst>
  </p:cSld>
  <p:clrMapOvr>
    <a:masterClrMapping/>
  </p:clrMapOvr>
  <p:transition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C561F-FB54-4772-8199-182D15C79B7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313511"/>
      </p:ext>
    </p:extLst>
  </p:cSld>
  <p:clrMapOvr>
    <a:masterClrMapping/>
  </p:clrMapOvr>
  <p:transition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0"/>
            <a:ext cx="3048000" cy="6400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8940800" cy="6400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2C0FB-B233-4DA5-A4DD-9B67561E02B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345728"/>
      </p:ext>
    </p:extLst>
  </p:cSld>
  <p:clrMapOvr>
    <a:masterClrMapping/>
  </p:clrMapOvr>
  <p:transition>
    <p:fade thruBlk="1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581400"/>
            <a:ext cx="12192000" cy="609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zh-CN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917" y="4038600"/>
            <a:ext cx="12139083" cy="304800"/>
          </a:xfrm>
        </p:spPr>
        <p:txBody>
          <a:bodyPr/>
          <a:lstStyle>
            <a:lvl1pPr marL="0" indent="0">
              <a:buFontTx/>
              <a:buNone/>
              <a:defRPr sz="1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fld id="{DB546EC3-3C06-4DCF-B8AA-19158986B1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565333"/>
      </p:ext>
    </p:extLst>
  </p:cSld>
  <p:clrMapOvr>
    <a:masterClrMapping/>
  </p:clrMapOvr>
  <p:transition>
    <p:fade thruBlk="1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FFD09B-A037-4F68-B800-1A5F0A1017B5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391309"/>
      </p:ext>
    </p:extLst>
  </p:cSld>
  <p:clrMapOvr>
    <a:masterClrMapping/>
  </p:clrMapOvr>
  <p:transition>
    <p:fade thruBlk="1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6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189" indent="0">
              <a:buNone/>
              <a:defRPr sz="2000"/>
            </a:lvl2pPr>
            <a:lvl3pPr marL="914377" indent="0">
              <a:buNone/>
              <a:defRPr sz="18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175F84-582D-4461-B6A9-C8CCD51C2299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719027"/>
      </p:ext>
    </p:extLst>
  </p:cSld>
  <p:clrMapOvr>
    <a:masterClrMapping/>
  </p:clrMapOvr>
  <p:transition>
    <p:fade thruBlk="1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457200"/>
            <a:ext cx="5994400" cy="594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457200"/>
            <a:ext cx="5994400" cy="5943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B7599-44C9-41F4-A674-DE950E0206AB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837296"/>
      </p:ext>
    </p:extLst>
  </p:cSld>
  <p:clrMapOvr>
    <a:masterClrMapping/>
  </p:clrMapOvr>
  <p:transition>
    <p:fade thruBlk="1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7" y="365128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19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19" y="2505075"/>
            <a:ext cx="515831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11315E-106F-4B84-98D2-18FC5FEE661F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043073"/>
      </p:ext>
    </p:extLst>
  </p:cSld>
  <p:clrMapOvr>
    <a:masterClrMapping/>
  </p:clrMapOvr>
  <p:transition>
    <p:fade thruBlk="1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6B3A9-5455-4787-9A96-9210FD9C30E3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44242"/>
      </p:ext>
    </p:extLst>
  </p:cSld>
  <p:clrMapOvr>
    <a:masterClrMapping/>
  </p:clrMapOvr>
  <p:transition>
    <p:fade thruBlk="1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2620F5-700D-4D1C-95B0-8644425747CE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681770"/>
      </p:ext>
    </p:extLst>
  </p:cSld>
  <p:clrMapOvr>
    <a:masterClrMapping/>
  </p:clrMapOvr>
  <p:transition>
    <p:fade thruBlk="1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02D9F8-EE61-41B3-B340-6212F694E097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7832731"/>
      </p:ext>
    </p:extLst>
  </p:cSld>
  <p:clrMapOvr>
    <a:masterClrMapping/>
  </p:clrMapOvr>
  <p:transition>
    <p:fade thruBlk="1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19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717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19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E20F40-AB55-4F94-BA8C-8BB9327427B8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49904"/>
      </p:ext>
    </p:extLst>
  </p:cSld>
  <p:clrMapOvr>
    <a:masterClrMapping/>
  </p:clrMapOvr>
  <p:transition>
    <p:fade thruBlk="1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0C561F-FB54-4772-8199-182D15C79B7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615231"/>
      </p:ext>
    </p:extLst>
  </p:cSld>
  <p:clrMapOvr>
    <a:masterClrMapping/>
  </p:clrMapOvr>
  <p:transition>
    <p:fade thruBlk="1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0"/>
            <a:ext cx="3048000" cy="6400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8940800" cy="6400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2C0FB-B233-4DA5-A4DD-9B67561E02B1}" type="slidenum">
              <a:rPr lang="en-US" altLang="zh-CN">
                <a:solidFill>
                  <a:srgbClr val="000000"/>
                </a:solidFill>
              </a:rPr>
              <a:pPr/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249803"/>
      </p:ext>
    </p:extLst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A95B46-2F42-430A-A0C8-48F7C4432C8C}" type="datetimeFigureOut">
              <a:rPr lang="zh-CN" altLang="en-US" smtClean="0"/>
              <a:t>2019/10/30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93325-7CCE-492B-9DD2-DE46E268AF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92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1"/>
            <a:ext cx="12192000" cy="498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457200"/>
            <a:ext cx="12192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629400"/>
            <a:ext cx="3860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6294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805EE74-DA62-43AF-9B24-C6B676A7B605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9315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 thruBlk="1"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>
          <a:solidFill>
            <a:srgbClr val="5F5F5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2000" i="1" kern="1200">
          <a:solidFill>
            <a:srgbClr val="5F5F5F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•"/>
        <a:defRPr i="1" kern="1200">
          <a:solidFill>
            <a:srgbClr val="5F5F5F"/>
          </a:solidFill>
          <a:latin typeface="+mn-lt"/>
          <a:ea typeface="+mn-ea"/>
          <a:cs typeface="+mn-cs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1600" i="1" kern="1200">
          <a:solidFill>
            <a:srgbClr val="5F5F5F"/>
          </a:solidFill>
          <a:latin typeface="+mn-lt"/>
          <a:ea typeface="+mn-ea"/>
          <a:cs typeface="+mn-cs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•"/>
        <a:defRPr sz="1400" i="1" kern="1200">
          <a:solidFill>
            <a:srgbClr val="5F5F5F"/>
          </a:solidFill>
          <a:latin typeface="+mn-lt"/>
          <a:ea typeface="+mn-ea"/>
          <a:cs typeface="+mn-cs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•"/>
        <a:defRPr sz="1400" i="1" kern="1200">
          <a:solidFill>
            <a:srgbClr val="5F5F5F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1"/>
            <a:ext cx="12192000" cy="4984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457200"/>
            <a:ext cx="121920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629400"/>
            <a:ext cx="3860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6294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+mj-lt"/>
                <a:ea typeface="宋体" panose="02010600030101010101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805EE74-DA62-43AF-9B24-C6B676A7B605}" type="slidenum">
              <a:rPr lang="en-US" altLang="zh-CN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4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>
    <p:fade thruBlk="1"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kern="1200">
          <a:solidFill>
            <a:srgbClr val="5F5F5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2000" i="1" kern="1200">
          <a:solidFill>
            <a:srgbClr val="5F5F5F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•"/>
        <a:defRPr i="1" kern="1200">
          <a:solidFill>
            <a:srgbClr val="5F5F5F"/>
          </a:solidFill>
          <a:latin typeface="+mn-lt"/>
          <a:ea typeface="+mn-ea"/>
          <a:cs typeface="+mn-cs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1600" i="1" kern="1200">
          <a:solidFill>
            <a:srgbClr val="5F5F5F"/>
          </a:solidFill>
          <a:latin typeface="+mn-lt"/>
          <a:ea typeface="+mn-ea"/>
          <a:cs typeface="+mn-cs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•"/>
        <a:defRPr sz="1400" i="1" kern="1200">
          <a:solidFill>
            <a:srgbClr val="5F5F5F"/>
          </a:solidFill>
          <a:latin typeface="+mn-lt"/>
          <a:ea typeface="+mn-ea"/>
          <a:cs typeface="+mn-cs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•"/>
        <a:defRPr sz="1400" i="1" kern="1200">
          <a:solidFill>
            <a:srgbClr val="5F5F5F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6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1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0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36321" y="1603967"/>
            <a:ext cx="9544595" cy="609600"/>
          </a:xfrm>
        </p:spPr>
        <p:txBody>
          <a:bodyPr/>
          <a:lstStyle/>
          <a:p>
            <a:pPr algn="ctr"/>
            <a:r>
              <a:rPr lang="zh-CN" altLang="en-US" sz="6000" dirty="0" smtClean="0">
                <a:latin typeface="Estrangelo Edessa" panose="03080600000000000000" pitchFamily="66" charset="0"/>
                <a:ea typeface="宋体" panose="02010600030101010101" pitchFamily="2" charset="-122"/>
                <a:cs typeface="Estrangelo Edessa" panose="03080600000000000000" pitchFamily="66" charset="0"/>
              </a:rPr>
              <a:t>聚类</a:t>
            </a:r>
            <a:r>
              <a:rPr lang="zh-CN" altLang="en-US" sz="6000" dirty="0">
                <a:latin typeface="Estrangelo Edessa" panose="03080600000000000000" pitchFamily="66" charset="0"/>
                <a:ea typeface="宋体" panose="02010600030101010101" pitchFamily="2" charset="-122"/>
                <a:cs typeface="Estrangelo Edessa" panose="03080600000000000000" pitchFamily="66" charset="0"/>
              </a:rPr>
              <a:t>实验</a:t>
            </a:r>
            <a:endParaRPr lang="en-US" altLang="zh-CN" sz="6000" dirty="0">
              <a:latin typeface="Estrangelo Edessa" panose="03080600000000000000" pitchFamily="66" charset="0"/>
              <a:ea typeface="宋体" panose="02010600030101010101" pitchFamily="2" charset="-122"/>
              <a:cs typeface="Estrangelo Edessa" panose="03080600000000000000" pitchFamily="66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70865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0125"/>
            <a:ext cx="12192000" cy="457200"/>
          </a:xfrm>
        </p:spPr>
        <p:txBody>
          <a:bodyPr/>
          <a:lstStyle/>
          <a:p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4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711113305"/>
              </p:ext>
            </p:extLst>
          </p:nvPr>
        </p:nvGraphicFramePr>
        <p:xfrm>
          <a:off x="757644" y="1332411"/>
          <a:ext cx="9853749" cy="34213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7567686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0125"/>
            <a:ext cx="12192000" cy="457200"/>
          </a:xfrm>
        </p:spPr>
        <p:txBody>
          <a:bodyPr/>
          <a:lstStyle/>
          <a:p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实验准备</a:t>
            </a:r>
            <a:endParaRPr lang="en-US" altLang="zh-CN" sz="4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530291614"/>
              </p:ext>
            </p:extLst>
          </p:nvPr>
        </p:nvGraphicFramePr>
        <p:xfrm>
          <a:off x="3126377" y="2564492"/>
          <a:ext cx="6951615" cy="2224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257090" y="610110"/>
            <a:ext cx="53261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实验工具：</a:t>
            </a:r>
            <a:r>
              <a:rPr lang="en-US" altLang="zh-CN" sz="2800" dirty="0" err="1"/>
              <a:t>Weka</a:t>
            </a:r>
            <a:endParaRPr lang="en-US" altLang="zh-CN" sz="2800" dirty="0"/>
          </a:p>
          <a:p>
            <a:r>
              <a:rPr lang="zh-CN" altLang="en-US" sz="2800" dirty="0"/>
              <a:t>算法：</a:t>
            </a:r>
            <a:r>
              <a:rPr lang="en-US" altLang="zh-CN" sz="2800" dirty="0" smtClean="0"/>
              <a:t>k-means</a:t>
            </a:r>
          </a:p>
          <a:p>
            <a:r>
              <a:rPr lang="zh-CN" altLang="en-US" sz="2800" dirty="0" smtClean="0"/>
              <a:t>数据</a:t>
            </a:r>
            <a:r>
              <a:rPr lang="zh-CN" altLang="en-US" sz="2800" dirty="0"/>
              <a:t>集：</a:t>
            </a:r>
            <a:r>
              <a:rPr lang="en-US" altLang="zh-CN" sz="2800" dirty="0"/>
              <a:t>Wine Data </a:t>
            </a:r>
            <a:r>
              <a:rPr lang="en-US" altLang="zh-CN" sz="2800" dirty="0" smtClean="0"/>
              <a:t>Set</a:t>
            </a:r>
            <a:endParaRPr lang="en-US" altLang="zh-CN" sz="2800" dirty="0"/>
          </a:p>
        </p:txBody>
      </p:sp>
      <p:sp>
        <p:nvSpPr>
          <p:cNvPr id="4" name="矩形 3"/>
          <p:cNvSpPr/>
          <p:nvPr/>
        </p:nvSpPr>
        <p:spPr>
          <a:xfrm>
            <a:off x="588624" y="2564492"/>
            <a:ext cx="223651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实验流程：</a:t>
            </a:r>
          </a:p>
        </p:txBody>
      </p:sp>
    </p:spTree>
    <p:extLst>
      <p:ext uri="{BB962C8B-B14F-4D97-AF65-F5344CB8AC3E}">
        <p14:creationId xmlns:p14="http://schemas.microsoft.com/office/powerpoint/2010/main" val="3326316961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0125"/>
            <a:ext cx="12192000" cy="457200"/>
          </a:xfrm>
        </p:spPr>
        <p:txBody>
          <a:bodyPr/>
          <a:lstStyle/>
          <a:p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数据处理</a:t>
            </a:r>
            <a:endParaRPr lang="en-US" altLang="zh-CN" sz="4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029661487"/>
              </p:ext>
            </p:extLst>
          </p:nvPr>
        </p:nvGraphicFramePr>
        <p:xfrm>
          <a:off x="37238" y="990645"/>
          <a:ext cx="6339334" cy="4361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图片 3"/>
          <p:cNvPicPr/>
          <p:nvPr/>
        </p:nvPicPr>
        <p:blipFill>
          <a:blip r:embed="rId8"/>
          <a:stretch>
            <a:fillRect/>
          </a:stretch>
        </p:blipFill>
        <p:spPr>
          <a:xfrm>
            <a:off x="6445759" y="2169249"/>
            <a:ext cx="5670042" cy="10952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5884" y="2493055"/>
            <a:ext cx="6019800" cy="447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4134" y="990645"/>
            <a:ext cx="4505325" cy="414337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11"/>
          <a:stretch>
            <a:fillRect/>
          </a:stretch>
        </p:blipFill>
        <p:spPr>
          <a:xfrm>
            <a:off x="7014301" y="1799408"/>
            <a:ext cx="3644990" cy="228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9622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0125"/>
            <a:ext cx="12192000" cy="457200"/>
          </a:xfrm>
        </p:spPr>
        <p:txBody>
          <a:bodyPr/>
          <a:lstStyle/>
          <a:p>
            <a:pPr lvl="0"/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 err="1"/>
              <a:t>SimpleKMeans</a:t>
            </a:r>
            <a:r>
              <a:rPr lang="zh-CN" altLang="en-US" sz="2400" dirty="0"/>
              <a:t>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Wine Data Set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进行聚类</a:t>
            </a:r>
            <a:r>
              <a:rPr lang="zh-CN" altLang="en-US" sz="2400" dirty="0"/>
              <a:t>）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2182426732"/>
              </p:ext>
            </p:extLst>
          </p:nvPr>
        </p:nvGraphicFramePr>
        <p:xfrm>
          <a:off x="113717" y="1049514"/>
          <a:ext cx="5904413" cy="4025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图片 7"/>
          <p:cNvPicPr/>
          <p:nvPr/>
        </p:nvPicPr>
        <p:blipFill>
          <a:blip r:embed="rId8"/>
          <a:stretch>
            <a:fillRect/>
          </a:stretch>
        </p:blipFill>
        <p:spPr>
          <a:xfrm>
            <a:off x="6528210" y="1586602"/>
            <a:ext cx="4515611" cy="3207339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9"/>
          <a:stretch>
            <a:fillRect/>
          </a:stretch>
        </p:blipFill>
        <p:spPr>
          <a:xfrm>
            <a:off x="6666344" y="1586602"/>
            <a:ext cx="3724275" cy="296227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10"/>
          <a:stretch>
            <a:fillRect/>
          </a:stretch>
        </p:blipFill>
        <p:spPr>
          <a:xfrm>
            <a:off x="6763075" y="1497656"/>
            <a:ext cx="3954145" cy="3296285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11"/>
          <a:stretch>
            <a:fillRect/>
          </a:stretch>
        </p:blipFill>
        <p:spPr>
          <a:xfrm>
            <a:off x="6335210" y="1310507"/>
            <a:ext cx="5274310" cy="3970655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12"/>
          <a:stretch>
            <a:fillRect/>
          </a:stretch>
        </p:blipFill>
        <p:spPr>
          <a:xfrm>
            <a:off x="6436474" y="1310507"/>
            <a:ext cx="4873677" cy="386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3949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59" y="1600272"/>
            <a:ext cx="11039475" cy="3238500"/>
          </a:xfrm>
          <a:prstGeom prst="rect">
            <a:avLst/>
          </a:prstGeom>
        </p:spPr>
      </p:pic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0125"/>
            <a:ext cx="12192000" cy="457200"/>
          </a:xfrm>
        </p:spPr>
        <p:txBody>
          <a:bodyPr/>
          <a:lstStyle/>
          <a:p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分析结果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 err="1"/>
              <a:t>SimpleKMeans</a:t>
            </a:r>
            <a:r>
              <a:rPr lang="zh-CN" altLang="en-US" sz="2400" dirty="0"/>
              <a:t>对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Wine Data Set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进行聚类</a:t>
            </a:r>
            <a:r>
              <a:rPr lang="zh-CN" altLang="en-US" sz="2400" dirty="0"/>
              <a:t>）</a:t>
            </a:r>
            <a:endParaRPr lang="en-US" altLang="zh-CN" sz="4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1066554987"/>
              </p:ext>
            </p:extLst>
          </p:nvPr>
        </p:nvGraphicFramePr>
        <p:xfrm>
          <a:off x="113717" y="1049514"/>
          <a:ext cx="5904413" cy="4025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图片 12"/>
          <p:cNvPicPr/>
          <p:nvPr/>
        </p:nvPicPr>
        <p:blipFill>
          <a:blip r:embed="rId9"/>
          <a:stretch>
            <a:fillRect/>
          </a:stretch>
        </p:blipFill>
        <p:spPr>
          <a:xfrm>
            <a:off x="6598469" y="1369895"/>
            <a:ext cx="4809335" cy="369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9648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50125"/>
            <a:ext cx="12192000" cy="457200"/>
          </a:xfrm>
        </p:spPr>
        <p:txBody>
          <a:bodyPr/>
          <a:lstStyle/>
          <a:p>
            <a:r>
              <a:rPr lang="zh-CN" altLang="en-US" sz="4400" dirty="0">
                <a:latin typeface="宋体" panose="02010600030101010101" pitchFamily="2" charset="-122"/>
                <a:ea typeface="宋体" panose="02010600030101010101" pitchFamily="2" charset="-122"/>
              </a:rPr>
              <a:t>其余实验步骤</a:t>
            </a:r>
            <a:endParaRPr lang="en-US" altLang="zh-CN" sz="4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028496699"/>
              </p:ext>
            </p:extLst>
          </p:nvPr>
        </p:nvGraphicFramePr>
        <p:xfrm>
          <a:off x="2425338" y="1425932"/>
          <a:ext cx="6892833" cy="3825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37697567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3482" y="3013229"/>
            <a:ext cx="7824185" cy="2055920"/>
          </a:xfrm>
        </p:spPr>
        <p:txBody>
          <a:bodyPr/>
          <a:lstStyle/>
          <a:p>
            <a:r>
              <a:rPr lang="en-US" altLang="zh-CN" sz="4000" dirty="0">
                <a:latin typeface="+mj-ea"/>
              </a:rPr>
              <a:t>Thank you for your attention</a:t>
            </a:r>
            <a:r>
              <a:rPr lang="zh-CN" altLang="en-US" sz="4000" dirty="0">
                <a:latin typeface="+mj-ea"/>
              </a:rPr>
              <a:t>！</a:t>
            </a:r>
            <a:endParaRPr lang="en-US" altLang="zh-CN" sz="4000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79767282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Eurostile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">
  <a:themeElements>
    <a:clrScheme name="Office 主题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">
      <a:majorFont>
        <a:latin typeface="Eurostile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Office 主题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1017</TotalTime>
  <Words>397</Words>
  <Application>Microsoft Office PowerPoint</Application>
  <PresentationFormat>宽屏</PresentationFormat>
  <Paragraphs>43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Estrangelo Edessa</vt:lpstr>
      <vt:lpstr>Eurostile</vt:lpstr>
      <vt:lpstr>宋体</vt:lpstr>
      <vt:lpstr>Arial</vt:lpstr>
      <vt:lpstr>Calibri</vt:lpstr>
      <vt:lpstr>Calibri Light</vt:lpstr>
      <vt:lpstr>Franklin Gothic Book</vt:lpstr>
      <vt:lpstr>Times New Roman</vt:lpstr>
      <vt:lpstr>Office 主题</vt:lpstr>
      <vt:lpstr>1_Office 主题</vt:lpstr>
      <vt:lpstr>4_Office 主题</vt:lpstr>
      <vt:lpstr>聚类实验</vt:lpstr>
      <vt:lpstr>实验内容</vt:lpstr>
      <vt:lpstr>实验准备</vt:lpstr>
      <vt:lpstr>数据处理</vt:lpstr>
      <vt:lpstr>实验步骤（SimpleKMeans对Wine Data Set进行聚类）</vt:lpstr>
      <vt:lpstr>分析结果（SimpleKMeans对Wine Data Set进行聚类）</vt:lpstr>
      <vt:lpstr>其余实验步骤</vt:lpstr>
      <vt:lpstr>Thank you for your attention！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combustion simulations using GPU</dc:title>
  <dc:creator>Windows User</dc:creator>
  <cp:lastModifiedBy>xjpj</cp:lastModifiedBy>
  <cp:revision>54</cp:revision>
  <dcterms:created xsi:type="dcterms:W3CDTF">2015-11-13T02:57:57Z</dcterms:created>
  <dcterms:modified xsi:type="dcterms:W3CDTF">2019-10-30T04:29:01Z</dcterms:modified>
</cp:coreProperties>
</file>